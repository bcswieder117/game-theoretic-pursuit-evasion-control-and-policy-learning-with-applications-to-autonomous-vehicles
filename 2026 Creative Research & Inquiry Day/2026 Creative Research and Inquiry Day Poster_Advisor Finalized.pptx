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9" r:id="rId2"/>
  </p:sldIdLst>
  <p:sldSz cx="43891200" cy="32918400"/>
  <p:notesSz cx="6858000" cy="9144000"/>
  <p:defaultTextStyle>
    <a:defPPr>
      <a:defRPr lang="en-US"/>
    </a:defPPr>
    <a:lvl1pPr marL="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1pPr>
    <a:lvl2pPr marL="219456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2pPr>
    <a:lvl3pPr marL="438912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3pPr>
    <a:lvl4pPr marL="658368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4pPr>
    <a:lvl5pPr marL="877824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5pPr>
    <a:lvl6pPr marL="1097280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6pPr>
    <a:lvl7pPr marL="1316736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7pPr>
    <a:lvl8pPr marL="1536192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8pPr>
    <a:lvl9pPr marL="1755648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873">
          <p15:clr>
            <a:srgbClr val="A4A3A4"/>
          </p15:clr>
        </p15:guide>
        <p15:guide id="2" orient="horz" pos="2161">
          <p15:clr>
            <a:srgbClr val="A4A3A4"/>
          </p15:clr>
        </p15:guide>
        <p15:guide id="3" orient="horz" pos="10368">
          <p15:clr>
            <a:srgbClr val="A4A3A4"/>
          </p15:clr>
        </p15:guide>
        <p15:guide id="4" orient="horz" pos="20160">
          <p15:clr>
            <a:srgbClr val="A4A3A4"/>
          </p15:clr>
        </p15:guide>
        <p15:guide id="5" orient="horz" pos="576">
          <p15:clr>
            <a:srgbClr val="A4A3A4"/>
          </p15:clr>
        </p15:guide>
        <p15:guide id="6" pos="576">
          <p15:clr>
            <a:srgbClr val="A4A3A4"/>
          </p15:clr>
        </p15:guide>
        <p15:guide id="7" pos="27072">
          <p15:clr>
            <a:srgbClr val="A4A3A4"/>
          </p15:clr>
        </p15:guide>
        <p15:guide id="8" pos="6912">
          <p15:clr>
            <a:srgbClr val="A4A3A4"/>
          </p15:clr>
        </p15:guide>
        <p15:guide id="9" pos="13824">
          <p15:clr>
            <a:srgbClr val="A4A3A4"/>
          </p15:clr>
        </p15:guide>
        <p15:guide id="10" pos="21024">
          <p15:clr>
            <a:srgbClr val="A4A3A4"/>
          </p15:clr>
        </p15:guide>
        <p15:guide id="11" pos="6624">
          <p15:clr>
            <a:srgbClr val="A4A3A4"/>
          </p15:clr>
        </p15:guide>
        <p15:guide id="12" pos="7200">
          <p15:clr>
            <a:srgbClr val="A4A3A4"/>
          </p15:clr>
        </p15:guide>
        <p15:guide id="13" pos="20448">
          <p15:clr>
            <a:srgbClr val="A4A3A4"/>
          </p15:clr>
        </p15:guide>
        <p15:guide id="14" pos="20736">
          <p15:clr>
            <a:srgbClr val="A4A3A4"/>
          </p15:clr>
        </p15:guide>
        <p15:guide id="15" pos="13536">
          <p15:clr>
            <a:srgbClr val="A4A3A4"/>
          </p15:clr>
        </p15:guide>
        <p15:guide id="16" pos="141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65" autoAdjust="0"/>
    <p:restoredTop sz="99162" autoAdjust="0"/>
  </p:normalViewPr>
  <p:slideViewPr>
    <p:cSldViewPr snapToGrid="0" snapToObjects="1" showGuides="1">
      <p:cViewPr>
        <p:scale>
          <a:sx n="40" d="100"/>
          <a:sy n="40" d="100"/>
        </p:scale>
        <p:origin x="-1974" y="-84"/>
      </p:cViewPr>
      <p:guideLst>
        <p:guide orient="horz" pos="19873"/>
        <p:guide orient="horz" pos="2161"/>
        <p:guide orient="horz" pos="10368"/>
        <p:guide orient="horz" pos="20160"/>
        <p:guide orient="horz" pos="576"/>
        <p:guide pos="576"/>
        <p:guide pos="27072"/>
        <p:guide pos="6912"/>
        <p:guide pos="13824"/>
        <p:guide pos="21024"/>
        <p:guide pos="6624"/>
        <p:guide pos="7200"/>
        <p:guide pos="20448"/>
        <p:guide pos="20736"/>
        <p:guide pos="13536"/>
        <p:guide pos="1411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09575C-D042-4991-B22E-9C2064A6289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02B4CD-6CB0-416F-AA21-264B598D8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375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10226042"/>
            <a:ext cx="37307520" cy="70561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680" y="18653760"/>
            <a:ext cx="30723840" cy="84124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583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778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A891-EA14-E241-A437-93B1B255627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1C03-2CE3-1940-9926-98CA1940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71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A891-EA14-E241-A437-93B1B255627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1C03-2CE3-1940-9926-98CA1940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79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2" y="21153122"/>
            <a:ext cx="37307520" cy="6537960"/>
          </a:xfrm>
        </p:spPr>
        <p:txBody>
          <a:bodyPr anchor="t"/>
          <a:lstStyle>
            <a:lvl1pPr algn="l">
              <a:defRPr sz="192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2" y="13952225"/>
            <a:ext cx="37307520" cy="7200898"/>
          </a:xfrm>
        </p:spPr>
        <p:txBody>
          <a:bodyPr anchor="b"/>
          <a:lstStyle>
            <a:lvl1pPr marL="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1pPr>
            <a:lvl2pPr marL="2194560" indent="0">
              <a:buNone/>
              <a:defRPr sz="8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770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A891-EA14-E241-A437-93B1B255627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1C03-2CE3-1940-9926-98CA1940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656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530842" y="36865560"/>
            <a:ext cx="94442280" cy="10427970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600"/>
            </a:lvl3pPr>
            <a:lvl4pPr>
              <a:defRPr sz="8600"/>
            </a:lvl4pPr>
            <a:lvl5pPr>
              <a:defRPr sz="8600"/>
            </a:lvl5pPr>
            <a:lvl6pPr>
              <a:defRPr sz="8600"/>
            </a:lvl6pPr>
            <a:lvl7pPr>
              <a:defRPr sz="8600"/>
            </a:lvl7pPr>
            <a:lvl8pPr>
              <a:defRPr sz="8600"/>
            </a:lvl8pPr>
            <a:lvl9pPr>
              <a:defRPr sz="8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5704642" y="36865560"/>
            <a:ext cx="94442280" cy="10427970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600"/>
            </a:lvl3pPr>
            <a:lvl4pPr>
              <a:defRPr sz="8600"/>
            </a:lvl4pPr>
            <a:lvl5pPr>
              <a:defRPr sz="8600"/>
            </a:lvl5pPr>
            <a:lvl6pPr>
              <a:defRPr sz="8600"/>
            </a:lvl6pPr>
            <a:lvl7pPr>
              <a:defRPr sz="8600"/>
            </a:lvl7pPr>
            <a:lvl8pPr>
              <a:defRPr sz="8600"/>
            </a:lvl8pPr>
            <a:lvl9pPr>
              <a:defRPr sz="8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A891-EA14-E241-A437-93B1B255627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1C03-2CE3-1940-9926-98CA1940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151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0" y="1318262"/>
            <a:ext cx="39502080" cy="5486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7368542"/>
            <a:ext cx="19392902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00" b="1"/>
            </a:lvl3pPr>
            <a:lvl4pPr marL="6583680" indent="0">
              <a:buNone/>
              <a:defRPr sz="7700" b="1"/>
            </a:lvl4pPr>
            <a:lvl5pPr marL="8778240" indent="0">
              <a:buNone/>
              <a:defRPr sz="7700" b="1"/>
            </a:lvl5pPr>
            <a:lvl6pPr marL="10972800" indent="0">
              <a:buNone/>
              <a:defRPr sz="7700" b="1"/>
            </a:lvl6pPr>
            <a:lvl7pPr marL="13167360" indent="0">
              <a:buNone/>
              <a:defRPr sz="7700" b="1"/>
            </a:lvl7pPr>
            <a:lvl8pPr marL="15361920" indent="0">
              <a:buNone/>
              <a:defRPr sz="7700" b="1"/>
            </a:lvl8pPr>
            <a:lvl9pPr marL="17556480" indent="0">
              <a:buNone/>
              <a:defRPr sz="7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560" y="10439400"/>
            <a:ext cx="19392902" cy="18966182"/>
          </a:xfrm>
        </p:spPr>
        <p:txBody>
          <a:bodyPr/>
          <a:lstStyle>
            <a:lvl1pPr>
              <a:defRPr sz="11500"/>
            </a:lvl1pPr>
            <a:lvl2pPr>
              <a:defRPr sz="9600"/>
            </a:lvl2pPr>
            <a:lvl3pPr>
              <a:defRPr sz="86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122" y="7368542"/>
            <a:ext cx="19400520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00" b="1"/>
            </a:lvl3pPr>
            <a:lvl4pPr marL="6583680" indent="0">
              <a:buNone/>
              <a:defRPr sz="7700" b="1"/>
            </a:lvl4pPr>
            <a:lvl5pPr marL="8778240" indent="0">
              <a:buNone/>
              <a:defRPr sz="7700" b="1"/>
            </a:lvl5pPr>
            <a:lvl6pPr marL="10972800" indent="0">
              <a:buNone/>
              <a:defRPr sz="7700" b="1"/>
            </a:lvl6pPr>
            <a:lvl7pPr marL="13167360" indent="0">
              <a:buNone/>
              <a:defRPr sz="7700" b="1"/>
            </a:lvl7pPr>
            <a:lvl8pPr marL="15361920" indent="0">
              <a:buNone/>
              <a:defRPr sz="7700" b="1"/>
            </a:lvl8pPr>
            <a:lvl9pPr marL="17556480" indent="0">
              <a:buNone/>
              <a:defRPr sz="7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122" y="10439400"/>
            <a:ext cx="19400520" cy="18966182"/>
          </a:xfrm>
        </p:spPr>
        <p:txBody>
          <a:bodyPr/>
          <a:lstStyle>
            <a:lvl1pPr>
              <a:defRPr sz="11500"/>
            </a:lvl1pPr>
            <a:lvl2pPr>
              <a:defRPr sz="9600"/>
            </a:lvl2pPr>
            <a:lvl3pPr>
              <a:defRPr sz="86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A891-EA14-E241-A437-93B1B255627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1C03-2CE3-1940-9926-98CA1940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696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A891-EA14-E241-A437-93B1B255627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1C03-2CE3-1940-9926-98CA1940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47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A891-EA14-E241-A437-93B1B255627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1C03-2CE3-1940-9926-98CA1940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844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3" y="1310640"/>
            <a:ext cx="14439902" cy="5577840"/>
          </a:xfrm>
        </p:spPr>
        <p:txBody>
          <a:bodyPr anchor="b"/>
          <a:lstStyle>
            <a:lvl1pPr algn="l">
              <a:defRPr sz="9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240" y="1310643"/>
            <a:ext cx="24536400" cy="28094942"/>
          </a:xfrm>
        </p:spPr>
        <p:txBody>
          <a:bodyPr/>
          <a:lstStyle>
            <a:lvl1pPr>
              <a:defRPr sz="15400"/>
            </a:lvl1pPr>
            <a:lvl2pPr>
              <a:defRPr sz="13400"/>
            </a:lvl2pPr>
            <a:lvl3pPr>
              <a:defRPr sz="1150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563" y="6888483"/>
            <a:ext cx="14439902" cy="22517102"/>
          </a:xfrm>
        </p:spPr>
        <p:txBody>
          <a:bodyPr/>
          <a:lstStyle>
            <a:lvl1pPr marL="0" indent="0">
              <a:buNone/>
              <a:defRPr sz="6700"/>
            </a:lvl1pPr>
            <a:lvl2pPr marL="2194560" indent="0">
              <a:buNone/>
              <a:defRPr sz="5800"/>
            </a:lvl2pPr>
            <a:lvl3pPr marL="4389120" indent="0">
              <a:buNone/>
              <a:defRPr sz="4800"/>
            </a:lvl3pPr>
            <a:lvl4pPr marL="6583680" indent="0">
              <a:buNone/>
              <a:defRPr sz="4300"/>
            </a:lvl4pPr>
            <a:lvl5pPr marL="8778240" indent="0">
              <a:buNone/>
              <a:defRPr sz="4300"/>
            </a:lvl5pPr>
            <a:lvl6pPr marL="10972800" indent="0">
              <a:buNone/>
              <a:defRPr sz="4300"/>
            </a:lvl6pPr>
            <a:lvl7pPr marL="13167360" indent="0">
              <a:buNone/>
              <a:defRPr sz="4300"/>
            </a:lvl7pPr>
            <a:lvl8pPr marL="15361920" indent="0">
              <a:buNone/>
              <a:defRPr sz="4300"/>
            </a:lvl8pPr>
            <a:lvl9pPr marL="17556480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A891-EA14-E241-A437-93B1B255627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1C03-2CE3-1940-9926-98CA1940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498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982" y="23042880"/>
            <a:ext cx="26334720" cy="2720342"/>
          </a:xfrm>
        </p:spPr>
        <p:txBody>
          <a:bodyPr anchor="b"/>
          <a:lstStyle>
            <a:lvl1pPr algn="l">
              <a:defRPr sz="9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982" y="2941320"/>
            <a:ext cx="26334720" cy="19751040"/>
          </a:xfrm>
        </p:spPr>
        <p:txBody>
          <a:bodyPr/>
          <a:lstStyle>
            <a:lvl1pPr marL="0" indent="0">
              <a:buNone/>
              <a:defRPr sz="15400"/>
            </a:lvl1pPr>
            <a:lvl2pPr marL="2194560" indent="0">
              <a:buNone/>
              <a:defRPr sz="13400"/>
            </a:lvl2pPr>
            <a:lvl3pPr marL="4389120" indent="0">
              <a:buNone/>
              <a:defRPr sz="1150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982" y="25763222"/>
            <a:ext cx="26334720" cy="3863338"/>
          </a:xfrm>
        </p:spPr>
        <p:txBody>
          <a:bodyPr/>
          <a:lstStyle>
            <a:lvl1pPr marL="0" indent="0">
              <a:buNone/>
              <a:defRPr sz="6700"/>
            </a:lvl1pPr>
            <a:lvl2pPr marL="2194560" indent="0">
              <a:buNone/>
              <a:defRPr sz="5800"/>
            </a:lvl2pPr>
            <a:lvl3pPr marL="4389120" indent="0">
              <a:buNone/>
              <a:defRPr sz="4800"/>
            </a:lvl3pPr>
            <a:lvl4pPr marL="6583680" indent="0">
              <a:buNone/>
              <a:defRPr sz="4300"/>
            </a:lvl4pPr>
            <a:lvl5pPr marL="8778240" indent="0">
              <a:buNone/>
              <a:defRPr sz="4300"/>
            </a:lvl5pPr>
            <a:lvl6pPr marL="10972800" indent="0">
              <a:buNone/>
              <a:defRPr sz="4300"/>
            </a:lvl6pPr>
            <a:lvl7pPr marL="13167360" indent="0">
              <a:buNone/>
              <a:defRPr sz="4300"/>
            </a:lvl7pPr>
            <a:lvl8pPr marL="15361920" indent="0">
              <a:buNone/>
              <a:defRPr sz="4300"/>
            </a:lvl8pPr>
            <a:lvl9pPr marL="17556480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A891-EA14-E241-A437-93B1B255627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1C03-2CE3-1940-9926-98CA1940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000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A891-EA14-E241-A437-93B1B255627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1C03-2CE3-1940-9926-98CA1940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990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2742905" y="6324600"/>
            <a:ext cx="47404018" cy="1348206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0843" y="6324600"/>
            <a:ext cx="141480542" cy="1348206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A891-EA14-E241-A437-93B1B255627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1C03-2CE3-1940-9926-98CA1940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645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94560" y="1318262"/>
            <a:ext cx="39502080" cy="5486400"/>
          </a:xfrm>
          <a:prstGeom prst="rect">
            <a:avLst/>
          </a:prstGeom>
        </p:spPr>
        <p:txBody>
          <a:bodyPr vert="horz" lIns="438912" tIns="219456" rIns="438912" bIns="219456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7680963"/>
            <a:ext cx="39502080" cy="21724622"/>
          </a:xfrm>
          <a:prstGeom prst="rect">
            <a:avLst/>
          </a:prstGeom>
        </p:spPr>
        <p:txBody>
          <a:bodyPr vert="horz" lIns="438912" tIns="219456" rIns="438912" bIns="21945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94560" y="30510482"/>
            <a:ext cx="1024128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l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8FA891-EA14-E241-A437-93B1B255627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996160" y="30510482"/>
            <a:ext cx="1389888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ctr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455360" y="30510482"/>
            <a:ext cx="1024128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r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CF1C03-2CE3-1940-9926-98CA1940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620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194560" rtl="0" eaLnBrk="1" latinLnBrk="0" hangingPunct="1">
        <a:spcBef>
          <a:spcPct val="0"/>
        </a:spcBef>
        <a:buNone/>
        <a:defRPr sz="21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45920" indent="-1645920" algn="l" defTabSz="2194560" rtl="0" eaLnBrk="1" latinLnBrk="0" hangingPunct="1">
        <a:spcBef>
          <a:spcPct val="20000"/>
        </a:spcBef>
        <a:buFont typeface="Arial"/>
        <a:buChar char="•"/>
        <a:defRPr sz="15400" kern="1200">
          <a:solidFill>
            <a:schemeClr val="tx1"/>
          </a:solidFill>
          <a:latin typeface="+mn-lt"/>
          <a:ea typeface="+mn-ea"/>
          <a:cs typeface="+mn-cs"/>
        </a:defRPr>
      </a:lvl1pPr>
      <a:lvl2pPr marL="3566160" indent="-1371600" algn="l" defTabSz="2194560" rtl="0" eaLnBrk="1" latinLnBrk="0" hangingPunct="1">
        <a:spcBef>
          <a:spcPct val="20000"/>
        </a:spcBef>
        <a:buFont typeface="Arial"/>
        <a:buChar char="–"/>
        <a:defRPr sz="134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2194560" rtl="0" eaLnBrk="1" latinLnBrk="0" hangingPunct="1">
        <a:spcBef>
          <a:spcPct val="20000"/>
        </a:spcBef>
        <a:buFont typeface="Arial"/>
        <a:buChar char="•"/>
        <a:defRPr sz="115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2194560" rtl="0" eaLnBrk="1" latinLnBrk="0" hangingPunct="1">
        <a:spcBef>
          <a:spcPct val="20000"/>
        </a:spcBef>
        <a:buFont typeface="Arial"/>
        <a:buChar char="–"/>
        <a:defRPr sz="960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2194560" rtl="0" eaLnBrk="1" latinLnBrk="0" hangingPunct="1">
        <a:spcBef>
          <a:spcPct val="20000"/>
        </a:spcBef>
        <a:buFont typeface="Arial"/>
        <a:buChar char="»"/>
        <a:defRPr sz="9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2194560" rtl="0" eaLnBrk="1" latinLnBrk="0" hangingPunct="1">
        <a:spcBef>
          <a:spcPct val="20000"/>
        </a:spcBef>
        <a:buFont typeface="Arial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2194560" rtl="0" eaLnBrk="1" latinLnBrk="0" hangingPunct="1">
        <a:spcBef>
          <a:spcPct val="20000"/>
        </a:spcBef>
        <a:buFont typeface="Arial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2194560" rtl="0" eaLnBrk="1" latinLnBrk="0" hangingPunct="1">
        <a:spcBef>
          <a:spcPct val="20000"/>
        </a:spcBef>
        <a:buFont typeface="Arial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2194560" rtl="0" eaLnBrk="1" latinLnBrk="0" hangingPunct="1">
        <a:spcBef>
          <a:spcPct val="20000"/>
        </a:spcBef>
        <a:buFont typeface="Arial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CH_Logo_Horizontal_TransparentBkgd_Purpl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972" y="914400"/>
            <a:ext cx="5584825" cy="1995207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451091" y="914400"/>
            <a:ext cx="30074616" cy="2516188"/>
          </a:xfrm>
          <a:prstGeom prst="rect">
            <a:avLst/>
          </a:prstGeom>
          <a:noFill/>
          <a:ln/>
        </p:spPr>
        <p:txBody>
          <a:bodyPr vert="horz" lIns="438912" tIns="219456" rIns="438912" bIns="219456" rtlCol="0" anchor="ctr">
            <a:normAutofit fontScale="62500" lnSpcReduction="20000"/>
          </a:bodyPr>
          <a:lstStyle>
            <a:lvl1pPr algn="ctr" defTabSz="2194560" rtl="0" eaLnBrk="1" latinLnBrk="0" hangingPunct="1">
              <a:spcBef>
                <a:spcPct val="0"/>
              </a:spcBef>
              <a:buNone/>
              <a:defRPr sz="211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Model-Based and Learning-Based Pursuit-Evasion Control: A Benchmark Comparison of Linear-Quadratic Game Theory and Deep Reinforcement Learning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Blaine Swieder,  Dr. </a:t>
            </a:r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Syed Ali Asad Rizvi,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Electrical &amp; Computer Engineering, Tennessee Technological University</a:t>
            </a:r>
          </a:p>
        </p:txBody>
      </p:sp>
      <p:sp>
        <p:nvSpPr>
          <p:cNvPr id="7" name="Text Box 89"/>
          <p:cNvSpPr txBox="1">
            <a:spLocks noChangeArrowheads="1"/>
          </p:cNvSpPr>
          <p:nvPr/>
        </p:nvSpPr>
        <p:spPr bwMode="auto">
          <a:xfrm>
            <a:off x="914403" y="3430588"/>
            <a:ext cx="12767883" cy="7662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874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841375" indent="-439738" defTabSz="9874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2528888" defTabSz="9874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2643188" defTabSz="9874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757488" defTabSz="9874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3214688" defTabSz="9874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671888" defTabSz="9874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4129088" defTabSz="9874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586288" defTabSz="9874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0" marR="0" lvl="0" indent="0" algn="l" defTabSz="219456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This thesis aims to develop a controlled pursuit-evasion benchmark </a:t>
            </a:r>
            <a:r>
              <a:rPr kumimoji="0" lang="en-US" sz="3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</a:t>
            </a:r>
            <a:r>
              <a:rPr lang="en-US" sz="36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 comparing two controller-design philosophies on the same system. More specifically, an exact finite-horizon linear-quadratic (LQ) dynamic game controller and a learning-based pursuer that is trained from sampled interaction. The benchmark is formulated in one-dimensional relative coordinates, with shared dynamics, shared state variables, and shared evaluation metrics. The analytical baseline is derived from a zero-sum finite-horizon game, while the learned controller is trained against the fixed Nash evader that is generated by the same </a:t>
            </a:r>
            <a:r>
              <a:rPr lang="en-US" sz="3600" dirty="0" err="1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Riccati</a:t>
            </a:r>
            <a:r>
              <a:rPr lang="en-US" sz="36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sweep. The objective is not to propose a new RL algorithm, rather, it is to formulate a benchmark in which learned behavior can be judged directly against an exact game-theoretic reference. The thesis is organized around nominal performance and structured perturbations including model mismatch, additive process noise, and actuator saturation.</a:t>
            </a:r>
            <a:endParaRPr kumimoji="0" lang="en-US" sz="3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78E5D0-939B-C417-82D8-C8FD0579649C}"/>
              </a:ext>
            </a:extLst>
          </p:cNvPr>
          <p:cNvSpPr txBox="1"/>
          <p:nvPr/>
        </p:nvSpPr>
        <p:spPr>
          <a:xfrm>
            <a:off x="779227" y="13023061"/>
            <a:ext cx="11994892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and Research Gap</a:t>
            </a:r>
          </a:p>
          <a:p>
            <a:pPr marL="457200" indent="-457200">
              <a:buFontTx/>
              <a:buChar char="-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interaction is fundamentally multi-agent and often adversarial. </a:t>
            </a:r>
          </a:p>
          <a:p>
            <a:pPr marL="457200" indent="-457200">
              <a:buFontTx/>
              <a:buChar char="-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Pursuit-Evasion gives a clean framework for closing vs. escaping behavior. </a:t>
            </a:r>
          </a:p>
          <a:p>
            <a:pPr marL="457200" indent="-457200">
              <a:buFontTx/>
              <a:buChar char="-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 literature often shows the following: Analytical Game Solutions, or RL pursuit-evasion behavior, but rarely compares both on the same benchmark.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7AEE4C-E5E7-1EC0-A056-98551B383152}"/>
              </a:ext>
            </a:extLst>
          </p:cNvPr>
          <p:cNvSpPr txBox="1"/>
          <p:nvPr/>
        </p:nvSpPr>
        <p:spPr>
          <a:xfrm>
            <a:off x="876727" y="17914963"/>
            <a:ext cx="1236979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571500" indent="-571500">
              <a:buFontTx/>
              <a:buChar char="-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shared benchmark with common dynamics, costs, and metrics.</a:t>
            </a:r>
          </a:p>
          <a:p>
            <a:pPr marL="571500" indent="-571500">
              <a:buFontTx/>
              <a:buChar char="-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 the exact LQ saddle-point baseline.</a:t>
            </a:r>
          </a:p>
          <a:p>
            <a:pPr marL="571500" indent="-571500">
              <a:buFontTx/>
              <a:buChar char="-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whether a data-driven Bellman method can recover that controller from data. </a:t>
            </a:r>
          </a:p>
          <a:p>
            <a:pPr marL="571500" indent="-571500">
              <a:buFontTx/>
              <a:buChar char="-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this as the nominal baseline for later robustness studies.</a:t>
            </a:r>
          </a:p>
          <a:p>
            <a:pPr marL="571500" indent="-571500">
              <a:buFontTx/>
              <a:buChar char="-"/>
            </a:pP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6B59C84-BA9F-A12F-7961-4B7B29AEB5D5}"/>
              </a:ext>
            </a:extLst>
          </p:cNvPr>
          <p:cNvSpPr txBox="1"/>
          <p:nvPr/>
        </p:nvSpPr>
        <p:spPr>
          <a:xfrm>
            <a:off x="787400" y="22623944"/>
            <a:ext cx="12275757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 Overview</a:t>
            </a:r>
          </a:p>
          <a:p>
            <a:pPr marL="457200" indent="-457200">
              <a:buFontTx/>
              <a:buChar char="-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State: Relative Position and Relative Velocity</a:t>
            </a:r>
          </a:p>
          <a:p>
            <a:pPr marL="457200" indent="-457200">
              <a:buFontTx/>
              <a:buChar char="-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agents are modeled as discrete-time double integrators. </a:t>
            </a:r>
          </a:p>
          <a:p>
            <a:pPr marL="457200" indent="-457200">
              <a:buFontTx/>
              <a:buChar char="-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Episodes end at capture or at a fixed-horizon. </a:t>
            </a:r>
          </a:p>
          <a:p>
            <a:pPr marL="457200" indent="-457200">
              <a:buFontTx/>
              <a:buChar char="-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assumptions enable a controlled comparison. 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D8A7B1B-DE64-03FD-DC10-6C97353AC3B6}"/>
              </a:ext>
            </a:extLst>
          </p:cNvPr>
          <p:cNvSpPr txBox="1"/>
          <p:nvPr/>
        </p:nvSpPr>
        <p:spPr>
          <a:xfrm>
            <a:off x="30981136" y="27277233"/>
            <a:ext cx="12685728" cy="661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57200" indent="-457200">
              <a:buFontTx/>
              <a:buChar char="-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Isaacs,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Games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1965.</a:t>
            </a:r>
          </a:p>
          <a:p>
            <a:pPr marL="457200" indent="-457200">
              <a:buFontTx/>
              <a:buChar char="-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Basar and G. J.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Olsder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Noncooperative Game Theory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1999. </a:t>
            </a:r>
          </a:p>
          <a:p>
            <a:pPr marL="457200" indent="-457200">
              <a:buFontTx/>
              <a:buChar char="-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F. L. Lewis and D. Vrabie, “Reinforcement Learning and Adaptive Dynamic Programming for Feedback Control,’ 2009.</a:t>
            </a:r>
          </a:p>
          <a:p>
            <a:pPr marL="457200" indent="-457200">
              <a:buFontTx/>
              <a:buChar char="-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S. Sutton and A. G. Barto,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Learning: An Introduction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2018. </a:t>
            </a:r>
          </a:p>
          <a:p>
            <a:pPr marL="457200" indent="-457200">
              <a:buFontTx/>
              <a:buChar char="-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Al-Tamimi, F. L. Lewis, and M. Abu-Khalaf, “Model-Free Q-Learning Designs for Linear Discrete-Time Zero-Sum Games,” 2007. </a:t>
            </a:r>
          </a:p>
          <a:p>
            <a:pPr marL="457200" indent="-457200">
              <a:buFontTx/>
              <a:buChar char="-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A. A. Rizvi and Z. Lin,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Feedback  Reinforcement Learning Control  for Linear Systems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</a:t>
            </a:r>
          </a:p>
          <a:p>
            <a:pPr marL="457200" indent="-457200">
              <a:buFontTx/>
              <a:buChar char="-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C4C700-5D62-6A30-4132-7B51C3BC7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3" y="723131"/>
            <a:ext cx="5584420" cy="19935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1F154F-BCF0-F7C8-B41E-05F3C7B6C2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97679" y="12471817"/>
            <a:ext cx="14708266" cy="1236933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11874E9-5188-350B-A7E8-09BF99F37509}"/>
              </a:ext>
            </a:extLst>
          </p:cNvPr>
          <p:cNvSpPr txBox="1"/>
          <p:nvPr/>
        </p:nvSpPr>
        <p:spPr>
          <a:xfrm>
            <a:off x="779227" y="27148259"/>
            <a:ext cx="1178362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 and Contributions</a:t>
            </a:r>
          </a:p>
          <a:p>
            <a:pPr marL="457200" marR="0" lvl="0" indent="-457200" algn="l" defTabSz="21945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Exact Baseline: Finite-horizon zero-sum LQ saddle-point controller from backward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Riccati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recursion. </a:t>
            </a:r>
          </a:p>
          <a:p>
            <a:pPr marL="457200" marR="0" lvl="0" indent="-457200" algn="l" defTabSz="21945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Data-Driven Method: Bellman-based state-feedback Q-learning, not PPO, for the Chapter 6 nominal study. </a:t>
            </a:r>
          </a:p>
          <a:p>
            <a:pPr marL="457200" marR="0" lvl="0" indent="-457200" algn="l" defTabSz="21945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Q-Function is modeled as a quadratic form and fit by least-squares Bellman regression. </a:t>
            </a:r>
          </a:p>
          <a:p>
            <a:pPr marL="457200" marR="0" lvl="0" indent="-457200" algn="l" defTabSz="21945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Gains are extracted analytically from the learned Q-matrix.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25B68A-9BBB-C532-2601-51C252E89626}"/>
              </a:ext>
            </a:extLst>
          </p:cNvPr>
          <p:cNvSpPr txBox="1"/>
          <p:nvPr/>
        </p:nvSpPr>
        <p:spPr>
          <a:xfrm>
            <a:off x="31049107" y="24274792"/>
            <a:ext cx="1254978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21945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Key Takeaway &amp; Next Steps</a:t>
            </a:r>
          </a:p>
          <a:p>
            <a:pPr marL="457200" marR="0" lvl="0" indent="-457200" algn="l" defTabSz="21945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main result so far is a validated nominal baseline. </a:t>
            </a:r>
          </a:p>
          <a:p>
            <a:pPr marL="457200" marR="0" lvl="0" indent="-457200" algn="l" defTabSz="21945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a matched LQ benchmark, Bellman-based learning recovers the exact saddle-point policy from data alone.</a:t>
            </a:r>
          </a:p>
          <a:p>
            <a:pPr marL="457200" marR="0" lvl="0" indent="-457200" algn="l" defTabSz="21945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Next steps, model mismatch, process noise and input saturation.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12C9DC-57DF-9663-721D-4F443709C5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39269" y="3621857"/>
            <a:ext cx="12500107" cy="80788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2BCFAF-F4F4-6570-F085-F6202BDAEB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81136" y="9800084"/>
            <a:ext cx="11495865" cy="1312228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F28202A-85A9-7987-B942-11F85E2620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71925" y="25172719"/>
            <a:ext cx="17434793" cy="52993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A1B530A-0941-62EE-CCA3-6F422DFF0E44}"/>
              </a:ext>
            </a:extLst>
          </p:cNvPr>
          <p:cNvSpPr txBox="1"/>
          <p:nvPr/>
        </p:nvSpPr>
        <p:spPr>
          <a:xfrm>
            <a:off x="14413508" y="11829788"/>
            <a:ext cx="158062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1: Learned pursuer and evader gains converge to the exact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Riccati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saddle-point gains.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598F63-A985-EDAA-BE3E-295E682F7955}"/>
              </a:ext>
            </a:extLst>
          </p:cNvPr>
          <p:cNvSpPr txBox="1"/>
          <p:nvPr/>
        </p:nvSpPr>
        <p:spPr>
          <a:xfrm>
            <a:off x="31315695" y="22853369"/>
            <a:ext cx="120166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2: Learned and Exact Trajectories coincide to plotting resolution; residual stays at machine precision. </a:t>
            </a:r>
            <a:endParaRPr lang="en-US" sz="3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32CF3B-1992-AFAF-3BEB-890306DBFBC2}"/>
              </a:ext>
            </a:extLst>
          </p:cNvPr>
          <p:cNvSpPr txBox="1"/>
          <p:nvPr/>
        </p:nvSpPr>
        <p:spPr>
          <a:xfrm>
            <a:off x="30853456" y="3507912"/>
            <a:ext cx="12478847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so Far</a:t>
            </a:r>
          </a:p>
          <a:p>
            <a:pPr marL="457200" indent="-457200">
              <a:buFontTx/>
              <a:buChar char="-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gains converge to the exact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Riccati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gains in about 4-5 policy updates. </a:t>
            </a:r>
          </a:p>
          <a:p>
            <a:pPr marL="457200" indent="-457200">
              <a:buFontTx/>
              <a:buChar char="-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and exact trajectories match to plotting resolution. </a:t>
            </a:r>
          </a:p>
          <a:p>
            <a:pPr marL="457200" indent="-457200">
              <a:buFontTx/>
              <a:buChar char="-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residual remains at machine precision. </a:t>
            </a:r>
          </a:p>
          <a:p>
            <a:pPr marL="457200" indent="-457200">
              <a:buFontTx/>
              <a:buChar char="-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Nominal Metrics are identical: Capture Rate = 1.00, Mean Capture Time = 14.46, Mean Total Cost = 279.447, and Mean Total Energy = 9506.055.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EE71A5-C8FD-5242-E6C5-2469FB98D436}"/>
              </a:ext>
            </a:extLst>
          </p:cNvPr>
          <p:cNvSpPr txBox="1"/>
          <p:nvPr/>
        </p:nvSpPr>
        <p:spPr>
          <a:xfrm>
            <a:off x="13293929" y="30803671"/>
            <a:ext cx="169732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3: Engineering diagnostics for data-driven recovery; that is, larger batch sizes improve conditioning, while excessive exploration noise increases gain-recovery.</a:t>
            </a:r>
          </a:p>
        </p:txBody>
      </p:sp>
    </p:spTree>
    <p:extLst>
      <p:ext uri="{BB962C8B-B14F-4D97-AF65-F5344CB8AC3E}">
        <p14:creationId xmlns:p14="http://schemas.microsoft.com/office/powerpoint/2010/main" val="3254641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663</Words>
  <Application>Microsoft Office PowerPoint</Application>
  <PresentationFormat>Custom</PresentationFormat>
  <Paragraphs>42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Times New Roman</vt:lpstr>
      <vt:lpstr>Office Theme</vt:lpstr>
      <vt:lpstr>PowerPoint Presentation</vt:lpstr>
    </vt:vector>
  </TitlesOfParts>
  <Company>Tennessee Tech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Mike Renfro</dc:creator>
  <cp:lastModifiedBy>Blaine Swieder</cp:lastModifiedBy>
  <cp:revision>32</cp:revision>
  <dcterms:created xsi:type="dcterms:W3CDTF">2014-03-28T10:29:27Z</dcterms:created>
  <dcterms:modified xsi:type="dcterms:W3CDTF">2026-04-21T02:34:56Z</dcterms:modified>
</cp:coreProperties>
</file>